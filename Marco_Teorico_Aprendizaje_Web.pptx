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A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4266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3790-19DA-DE84-06CA-91A7663FE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666B6-71BF-2C04-0738-570BBFB5A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8026-B801-BB2B-C3A0-9EA7BA90C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2DB86-E06A-EE3E-24AA-E9A587D6BD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421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83837" y="1657350"/>
            <a:ext cx="617632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500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en la Web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2469203" y="2381250"/>
            <a:ext cx="420544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Teórico y Fundamentos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2961354" y="3181350"/>
            <a:ext cx="32211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24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+ NLP + Web Scraping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985852-872A-A9A0-243F-00B188B0E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34D71A-69B7-E486-B66A-3E3FAF3104F9}"/>
              </a:ext>
            </a:extLst>
          </p:cNvPr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DB1BB8F-6608-F0D4-470B-204B518F3ED4}"/>
              </a:ext>
            </a:extLst>
          </p:cNvPr>
          <p:cNvSpPr/>
          <p:nvPr/>
        </p:nvSpPr>
        <p:spPr>
          <a:xfrm>
            <a:off x="228600" y="228600"/>
            <a:ext cx="578072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Aprendizaje en la Web?</a:t>
            </a:r>
            <a:endParaRPr lang="en-US" sz="27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9A130C2-EC9E-A9B7-A639-CA01CEC0EE98}"/>
              </a:ext>
            </a:extLst>
          </p:cNvPr>
          <p:cNvSpPr/>
          <p:nvPr/>
        </p:nvSpPr>
        <p:spPr>
          <a:xfrm>
            <a:off x="304800" y="2133600"/>
            <a:ext cx="870508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 del </a:t>
            </a: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se enfoca en extraer, procesar y aprender de datos disponibles en internet.</a:t>
            </a: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C639EFF-E557-B1DE-F287-BA4DF62C54E5}"/>
              </a:ext>
            </a:extLst>
          </p:cNvPr>
          <p:cNvSpPr/>
          <p:nvPr/>
        </p:nvSpPr>
        <p:spPr>
          <a:xfrm>
            <a:off x="304800" y="3162300"/>
            <a:ext cx="2641550" cy="87630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37F45AE-2093-FB10-46D3-69574B51AD89}"/>
              </a:ext>
            </a:extLst>
          </p:cNvPr>
          <p:cNvSpPr/>
          <p:nvPr/>
        </p:nvSpPr>
        <p:spPr>
          <a:xfrm>
            <a:off x="457200" y="3314700"/>
            <a:ext cx="23834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Web Scraping</a:t>
            </a:r>
            <a:endParaRPr lang="en-US" sz="15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6FDCDD2-8A4F-A09B-9915-7B51B10FCD36}"/>
              </a:ext>
            </a:extLst>
          </p:cNvPr>
          <p:cNvSpPr/>
          <p:nvPr/>
        </p:nvSpPr>
        <p:spPr>
          <a:xfrm>
            <a:off x="457200" y="3657600"/>
            <a:ext cx="23834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Extracción automatizada de contenido</a:t>
            </a:r>
            <a:endParaRPr lang="en-US" sz="10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F0FB115-30AA-241B-BFDF-45FF88BD876B}"/>
              </a:ext>
            </a:extLst>
          </p:cNvPr>
          <p:cNvSpPr/>
          <p:nvPr/>
        </p:nvSpPr>
        <p:spPr>
          <a:xfrm>
            <a:off x="3251150" y="3162300"/>
            <a:ext cx="2641550" cy="87630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DE12C99-5C51-A279-D250-3BF9EEFF1B19}"/>
              </a:ext>
            </a:extLst>
          </p:cNvPr>
          <p:cNvSpPr/>
          <p:nvPr/>
        </p:nvSpPr>
        <p:spPr>
          <a:xfrm>
            <a:off x="3403550" y="3314700"/>
            <a:ext cx="23834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NLP</a:t>
            </a:r>
            <a:endParaRPr lang="en-US" sz="15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6CA370B-76D7-3563-828B-FE56F35DED3C}"/>
              </a:ext>
            </a:extLst>
          </p:cNvPr>
          <p:cNvSpPr/>
          <p:nvPr/>
        </p:nvSpPr>
        <p:spPr>
          <a:xfrm>
            <a:off x="3403550" y="3657600"/>
            <a:ext cx="23834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y comprensión de texto</a:t>
            </a:r>
            <a:endParaRPr lang="en-US" sz="10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6789AEA-E244-60E6-1280-BF79538C0AD7}"/>
              </a:ext>
            </a:extLst>
          </p:cNvPr>
          <p:cNvSpPr/>
          <p:nvPr/>
        </p:nvSpPr>
        <p:spPr>
          <a:xfrm>
            <a:off x="6197501" y="3162300"/>
            <a:ext cx="2641550" cy="87630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23FE330-79FA-BEBC-4AF1-52F8C7DD434A}"/>
              </a:ext>
            </a:extLst>
          </p:cNvPr>
          <p:cNvSpPr/>
          <p:nvPr/>
        </p:nvSpPr>
        <p:spPr>
          <a:xfrm>
            <a:off x="6349901" y="3314700"/>
            <a:ext cx="23834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ML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D3531CE-0F95-D0DA-2387-3F8B7A07CAD1}"/>
              </a:ext>
            </a:extLst>
          </p:cNvPr>
          <p:cNvSpPr/>
          <p:nvPr/>
        </p:nvSpPr>
        <p:spPr>
          <a:xfrm>
            <a:off x="6349901" y="3657600"/>
            <a:ext cx="238348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de patrones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69613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4399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Scraping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562100"/>
            <a:ext cx="87050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Definición: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Proceso automatizado de extracción de información de sitios web.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04800" y="2171700"/>
            <a:ext cx="87050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en Python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04800" y="2552700"/>
            <a:ext cx="8534400" cy="11811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BeautifulSoup: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Parsing HTML/XML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Scrapy: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Framework completo de scraping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Selenium: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Páginas dinámicas (JavaScript)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Requests: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Peticiones HTTP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04800" y="4038600"/>
            <a:ext cx="8534400" cy="5715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4229100"/>
            <a:ext cx="83941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Consideraciones éticas:</a:t>
            </a: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Respetar robots.txt, no sobrecargar servidores, cumplir términos de servicio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698544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Procesamiento de Lenguaje Natural (NLP)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581150"/>
            <a:ext cx="87050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 de la IA que permite a las computadoras entender, interpretar y generar lenguaje humano.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04800" y="2190750"/>
            <a:ext cx="87050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típico de NLP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94432" y="2609850"/>
            <a:ext cx="52788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Tokenización: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"Python es genial" → ["Python", "es", "genial"]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94432" y="3028950"/>
            <a:ext cx="37799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Normalización: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Minúsculas, sin puntuación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94432" y="3448050"/>
            <a:ext cx="479809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Stopwords: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Eliminar palabras comunes ("el", "la", "de")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4432" y="3867150"/>
            <a:ext cx="27809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Stemming: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"corriendo" → "corr"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432" y="4286250"/>
            <a:ext cx="45136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Vectorización: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Convertir texto en números (TF-IDF)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4399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Vectorización: TF-IDF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333500"/>
            <a:ext cx="87050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Frequency - Inverse Document Frequency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04800" y="1790700"/>
            <a:ext cx="8534400" cy="87630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2628" y="2057400"/>
            <a:ext cx="82387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= TF × IDF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4800" y="2971800"/>
            <a:ext cx="4114800" cy="87630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31242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3467100"/>
            <a:ext cx="3886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Frecuencia del término en el documento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24400" y="2971800"/>
            <a:ext cx="4114800" cy="87630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76800" y="31242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IDF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76800" y="3467100"/>
            <a:ext cx="3886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log(Total documentos / Docs con el término)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4800" y="4152900"/>
            <a:ext cx="8534400" cy="647700"/>
          </a:xfrm>
          <a:prstGeom prst="roundRect">
            <a:avLst>
              <a:gd name="adj" fmla="val 9412"/>
            </a:avLst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Ventaja:</a:t>
            </a: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Palabras comunes tienen menor peso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4399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Clasificación de Texto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828800"/>
            <a:ext cx="87050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Definición: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Asignar categorías predefinidas a documentos.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04800" y="2438400"/>
            <a:ext cx="87050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Algoritmos Comunes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04800" y="2819400"/>
            <a:ext cx="2743200" cy="1524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Bayes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314700"/>
            <a:ext cx="2438400" cy="8763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 bayesiana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Rápido y eficiente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para datasets pequeños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0400" y="2819400"/>
            <a:ext cx="2743200" cy="1524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352800" y="2971800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52800" y="3314700"/>
            <a:ext cx="2438400" cy="8763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Hiperplanos de separación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dimensión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Robusto vs overfitting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096000" y="2819400"/>
            <a:ext cx="2743200" cy="1524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48400" y="2971800"/>
            <a:ext cx="24871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248400" y="3314700"/>
            <a:ext cx="2438400" cy="8763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árboles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overfitting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Características no lineales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4399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de Evaluación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638300"/>
            <a:ext cx="4114800" cy="87630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17907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133600"/>
            <a:ext cx="3886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Predicciones correctas / Total predicciones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24400" y="1638300"/>
            <a:ext cx="4114800" cy="87630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76800" y="17907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76800" y="2133600"/>
            <a:ext cx="3886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/ (VP + FP)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4800" y="2667000"/>
            <a:ext cx="4114800" cy="87630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7200" y="28194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3162300"/>
            <a:ext cx="3886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/ (VP + FN)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24400" y="2667000"/>
            <a:ext cx="4114800" cy="87630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76800" y="28194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F1-Score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76800" y="3162300"/>
            <a:ext cx="3886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(Precision × Recall) / (Precision + Recall)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04800" y="3848100"/>
            <a:ext cx="8534400" cy="647700"/>
          </a:xfrm>
          <a:prstGeom prst="roundRect">
            <a:avLst>
              <a:gd name="adj" fmla="val 9412"/>
            </a:avLst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74904" y="4038600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VP: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Verdaderos Positivos | </a:t>
            </a: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FP: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Falsos Positivos | </a:t>
            </a: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FN: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Falsos Negativos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4399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Sistema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28600" y="2076450"/>
            <a:ext cx="1333500" cy="266700"/>
          </a:xfrm>
          <a:prstGeom prst="roundRect">
            <a:avLst>
              <a:gd name="adj" fmla="val 228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15265" y="2114550"/>
            <a:ext cx="136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Web Scraping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714500" y="2057400"/>
            <a:ext cx="2331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95500" y="2076450"/>
            <a:ext cx="1333500" cy="266700"/>
          </a:xfrm>
          <a:prstGeom prst="roundRect">
            <a:avLst>
              <a:gd name="adj" fmla="val 228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082165" y="2114550"/>
            <a:ext cx="136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Preprocesamiento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581400" y="2057400"/>
            <a:ext cx="2331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962400" y="2076450"/>
            <a:ext cx="1333500" cy="266700"/>
          </a:xfrm>
          <a:prstGeom prst="roundRect">
            <a:avLst>
              <a:gd name="adj" fmla="val 228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949065" y="2114550"/>
            <a:ext cx="136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Vectorización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14850" y="2514600"/>
            <a:ext cx="11658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10000" y="2933700"/>
            <a:ext cx="1524000" cy="266700"/>
          </a:xfrm>
          <a:prstGeom prst="roundRect">
            <a:avLst>
              <a:gd name="adj" fmla="val 22857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794760" y="2971800"/>
            <a:ext cx="15544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Modelo ML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14850" y="3314700"/>
            <a:ext cx="11658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28600" y="3790950"/>
            <a:ext cx="1333500" cy="266700"/>
          </a:xfrm>
          <a:prstGeom prst="roundRect">
            <a:avLst>
              <a:gd name="adj" fmla="val 228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15265" y="3829050"/>
            <a:ext cx="136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Predicción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714500" y="3771900"/>
            <a:ext cx="2331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095500" y="3790950"/>
            <a:ext cx="1333500" cy="266700"/>
          </a:xfrm>
          <a:prstGeom prst="roundRect">
            <a:avLst>
              <a:gd name="adj" fmla="val 22857"/>
            </a:avLst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082165" y="3829050"/>
            <a:ext cx="136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Visualización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4399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Aplicaciones Prácticas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543050"/>
            <a:ext cx="4191000" cy="9144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1695450"/>
            <a:ext cx="3963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📰 Clasificación de Noticias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076450"/>
            <a:ext cx="39639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Categorización automática por tema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648200" y="1543050"/>
            <a:ext cx="4191000" cy="9144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00600" y="1695450"/>
            <a:ext cx="3963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Análisis de Sentimientos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800600" y="2076450"/>
            <a:ext cx="39639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Opiniones en redes sociales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4800" y="2609850"/>
            <a:ext cx="4191000" cy="9144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7200" y="2762250"/>
            <a:ext cx="3963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Detección de Spam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" y="3143250"/>
            <a:ext cx="39639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Filtrado de correos no deseados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48200" y="2609850"/>
            <a:ext cx="4191000" cy="9144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00600" y="2762250"/>
            <a:ext cx="3963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Recomendaciones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800600" y="3143250"/>
            <a:ext cx="39639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de contenido similar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04800" y="3676650"/>
            <a:ext cx="4191000" cy="9144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7200" y="3829050"/>
            <a:ext cx="3963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Análisis de Tendencias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4210050"/>
            <a:ext cx="39639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tópicos populares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48200" y="3676650"/>
            <a:ext cx="4191000" cy="9144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800600" y="3829050"/>
            <a:ext cx="3963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🏷️ Etiquetado Automático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800600" y="4210050"/>
            <a:ext cx="39639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Organización de documentos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6731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Desafíos y Consideraciones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676400"/>
            <a:ext cx="4114800" cy="1828800"/>
          </a:xfrm>
          <a:prstGeom prst="roundRect">
            <a:avLst>
              <a:gd name="adj" fmla="val 3333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Desafíos Técnicos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171700"/>
            <a:ext cx="3810000" cy="11811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Ruido en datos web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Ambigüedad del lenguaje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desbalanceados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24400" y="1676400"/>
            <a:ext cx="4114800" cy="1828800"/>
          </a:xfrm>
          <a:prstGeom prst="roundRect">
            <a:avLst>
              <a:gd name="adj" fmla="val 3333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76800" y="18288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Desafíos Éticos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76800" y="2171700"/>
            <a:ext cx="3810000" cy="11811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Privacidad de datos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Sesgos en modelos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Derechos de autor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responsable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04800" y="3810000"/>
            <a:ext cx="8534400" cy="647700"/>
          </a:xfrm>
          <a:prstGeom prst="roundRect">
            <a:avLst>
              <a:gd name="adj" fmla="val 9412"/>
            </a:avLst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4904" y="4000500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Mejores prácticas: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Validación cruzada, regularización, monitoreo continuo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6925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y Frameworks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695450"/>
            <a:ext cx="26943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Scraping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04800" y="2038350"/>
            <a:ext cx="2641550" cy="8763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BeautifulSoup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Scrapy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Selenium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251150" y="1695450"/>
            <a:ext cx="26943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51150" y="2038350"/>
            <a:ext cx="2641550" cy="8763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NLTK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spaCy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TextBlob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197501" y="1695450"/>
            <a:ext cx="26943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197501" y="2038350"/>
            <a:ext cx="2641550" cy="8763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scikit-learn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TensorFlow/PyTorch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04800" y="3219450"/>
            <a:ext cx="26943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04800" y="3562350"/>
            <a:ext cx="2641550" cy="8763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Matplotlib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Seaborn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Plotly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251150" y="3219450"/>
            <a:ext cx="26943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51150" y="3562350"/>
            <a:ext cx="2641550" cy="8763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197501" y="3219450"/>
            <a:ext cx="26943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97501" y="3562350"/>
            <a:ext cx="2641550" cy="8763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SageMaker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AI</a:t>
            </a:r>
            <a:endParaRPr lang="en-US" sz="1350" dirty="0"/>
          </a:p>
          <a:p>
            <a:pPr marL="66675" indent="-66675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Cognitive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3820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4399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314450"/>
            <a:ext cx="87050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aprendizaje en la web es un campo </a:t>
            </a: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interdisciplinario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combina: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04800" y="1924050"/>
            <a:ext cx="4191000" cy="64770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8338" y="2114550"/>
            <a:ext cx="3963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Ingeniería de Software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648200" y="1924050"/>
            <a:ext cx="4191000" cy="64770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61738" y="2114550"/>
            <a:ext cx="3963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Ciencia de Datos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04800" y="2876550"/>
            <a:ext cx="4191000" cy="64770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18338" y="3067050"/>
            <a:ext cx="3963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Lingüística Computacional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8200" y="2876550"/>
            <a:ext cx="4191000" cy="64770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761738" y="3067050"/>
            <a:ext cx="39639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Estadística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04800" y="3981450"/>
            <a:ext cx="4114800" cy="876300"/>
          </a:xfrm>
          <a:prstGeom prst="roundRect">
            <a:avLst>
              <a:gd name="adj" fmla="val 6957"/>
            </a:avLst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413385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Ventajas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" y="4476750"/>
            <a:ext cx="3886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Automatización, Escalabilidad, Descubrimiento de patrones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24400" y="3981450"/>
            <a:ext cx="4114800" cy="87630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876800" y="413385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Limitaciones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876800" y="4476750"/>
            <a:ext cx="3886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 de datos, Mantenimiento, Consideraciones éticas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55623" y="1504950"/>
            <a:ext cx="30327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¡Gracias!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3108299" y="2647950"/>
            <a:ext cx="29274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spcBef>
                <a:spcPts val="2400"/>
              </a:spcBef>
              <a:spcAft>
                <a:spcPts val="300"/>
              </a:spcAft>
              <a:buNone/>
            </a:pPr>
            <a:r>
              <a:rPr lang="en-US" sz="2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en la Web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3475668" y="3333750"/>
            <a:ext cx="219251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12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y Comentarios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550</Words>
  <Application>Microsoft Office PowerPoint</Application>
  <PresentationFormat>Presentación en pantalla (16:9)</PresentationFormat>
  <Paragraphs>148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Marco Teórico - Aprendizaje en la Web</dc:title>
  <dc:subject>PptxGenJS Presentation</dc:subject>
  <dc:creator>Sistema de Aprendizaje Web</dc:creator>
  <cp:lastModifiedBy>America Dabeiba Buitrago Olazo</cp:lastModifiedBy>
  <cp:revision>2</cp:revision>
  <dcterms:created xsi:type="dcterms:W3CDTF">2025-11-26T02:01:13Z</dcterms:created>
  <dcterms:modified xsi:type="dcterms:W3CDTF">2025-11-27T01:19:08Z</dcterms:modified>
</cp:coreProperties>
</file>